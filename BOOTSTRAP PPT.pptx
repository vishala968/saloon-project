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333" r:id="rId3"/>
    <p:sldId id="329" r:id="rId4"/>
    <p:sldId id="330" r:id="rId5"/>
    <p:sldId id="331" r:id="rId6"/>
    <p:sldId id="332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28" r:id="rId2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341" autoAdjust="0"/>
    <p:restoredTop sz="94660"/>
  </p:normalViewPr>
  <p:slideViewPr>
    <p:cSldViewPr>
      <p:cViewPr varScale="1">
        <p:scale>
          <a:sx n="66" d="100"/>
          <a:sy n="66" d="100"/>
        </p:scale>
        <p:origin x="-748" y="-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23387-A548-4B80-BB2D-860D8AB7FC4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ADF90-CA5A-4BFD-A8F4-662ED5AA63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822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ADF90-CA5A-4BFD-A8F4-662ED5AA636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342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ADF90-CA5A-4BFD-A8F4-662ED5AA636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357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92047" y="2704550"/>
            <a:ext cx="5683250" cy="1602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490" y="1581403"/>
            <a:ext cx="8547418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1F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5427" y="2363142"/>
            <a:ext cx="8402320" cy="3646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04800" y="1143000"/>
            <a:ext cx="9730339" cy="7987443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r>
              <a:rPr lang="en-IN" sz="3200" b="1" dirty="0" smtClean="0"/>
              <a:t>	</a:t>
            </a:r>
            <a:r>
              <a:rPr lang="en-IN" sz="3200" b="1" dirty="0" smtClean="0">
                <a:latin typeface="Arial" pitchFamily="34" charset="0"/>
                <a:cs typeface="Arial" pitchFamily="34" charset="0"/>
              </a:rPr>
              <a:t>       </a:t>
            </a:r>
            <a:r>
              <a:rPr lang="en-IN" sz="3200" b="1" dirty="0">
                <a:cs typeface="Arial" pitchFamily="34" charset="0"/>
              </a:rPr>
              <a:t>	</a:t>
            </a:r>
            <a:r>
              <a:rPr lang="en-IN" b="1" dirty="0" smtClean="0"/>
              <a:t>  			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			</a:t>
            </a:r>
            <a:r>
              <a:rPr lang="en-US" sz="2400" dirty="0" smtClean="0">
                <a:solidFill>
                  <a:srgbClr val="002060"/>
                </a:solidFill>
              </a:rPr>
              <a:t/>
            </a:r>
            <a:br>
              <a:rPr lang="en-US" sz="2400" dirty="0" smtClean="0">
                <a:solidFill>
                  <a:srgbClr val="002060"/>
                </a:solidFill>
              </a:rPr>
            </a:br>
            <a:r>
              <a:rPr lang="en-US" sz="2400" dirty="0" smtClean="0">
                <a:solidFill>
                  <a:srgbClr val="002060"/>
                </a:solidFill>
              </a:rPr>
              <a:t>			    </a:t>
            </a:r>
            <a:br>
              <a:rPr lang="en-US" sz="2400" dirty="0" smtClean="0">
                <a:solidFill>
                  <a:srgbClr val="002060"/>
                </a:solidFill>
              </a:rPr>
            </a:br>
            <a:r>
              <a:rPr lang="en-US" dirty="0" smtClean="0">
                <a:solidFill>
                  <a:srgbClr val="002060"/>
                </a:solidFill>
              </a:rPr>
              <a:t/>
            </a:r>
            <a:br>
              <a:rPr lang="en-US" dirty="0" smtClean="0">
                <a:solidFill>
                  <a:srgbClr val="002060"/>
                </a:solidFill>
              </a:rPr>
            </a:br>
            <a:r>
              <a:rPr lang="en-US" dirty="0" smtClean="0">
                <a:solidFill>
                  <a:srgbClr val="002060"/>
                </a:solidFill>
              </a:rPr>
              <a:t>		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IN" sz="2800" b="1" spc="110" dirty="0" smtClean="0">
                <a:solidFill>
                  <a:srgbClr val="FF0000"/>
                </a:solidFill>
                <a:latin typeface="Trebuchet MS"/>
                <a:cs typeface="Trebuchet MS"/>
              </a:rPr>
              <a:t>Explained</a:t>
            </a:r>
            <a:r>
              <a:rPr lang="en-IN" sz="2800" b="1" spc="-150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z="2800" b="1" dirty="0">
                <a:solidFill>
                  <a:srgbClr val="FF0000"/>
                </a:solidFill>
                <a:latin typeface="Trebuchet MS"/>
                <a:cs typeface="Trebuchet MS"/>
              </a:rPr>
              <a:t>by:</a:t>
            </a:r>
            <a:r>
              <a:rPr lang="en-IN" sz="2800" b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z="2800" b="1" spc="150" dirty="0" err="1">
                <a:solidFill>
                  <a:srgbClr val="FF0000"/>
                </a:solidFill>
                <a:latin typeface="Trebuchet MS"/>
                <a:cs typeface="Trebuchet MS"/>
              </a:rPr>
              <a:t>Rupali</a:t>
            </a:r>
            <a:r>
              <a:rPr lang="en-IN" sz="2800" b="1" spc="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IN" sz="2800" b="1" spc="150" dirty="0" err="1">
                <a:solidFill>
                  <a:srgbClr val="FF0000"/>
                </a:solidFill>
                <a:latin typeface="Trebuchet MS"/>
                <a:cs typeface="Trebuchet MS"/>
              </a:rPr>
              <a:t>Gaikwad</a:t>
            </a:r>
            <a:r>
              <a:rPr lang="en-IN" sz="2800" b="1" spc="150" dirty="0">
                <a:solidFill>
                  <a:srgbClr val="FF0000"/>
                </a:solidFill>
                <a:latin typeface="Trebuchet MS"/>
                <a:cs typeface="Trebuchet MS"/>
              </a:rPr>
              <a:t/>
            </a:r>
            <a:br>
              <a:rPr lang="en-IN" sz="2800" b="1" spc="150" dirty="0">
                <a:solidFill>
                  <a:srgbClr val="FF0000"/>
                </a:solidFill>
                <a:latin typeface="Trebuchet MS"/>
                <a:cs typeface="Trebuchet MS"/>
              </a:rPr>
            </a:br>
            <a:r>
              <a:rPr lang="en-US" sz="2800" dirty="0">
                <a:solidFill>
                  <a:srgbClr val="002060"/>
                </a:solidFill>
              </a:rPr>
              <a:t/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b="1" dirty="0" smtClean="0">
                <a:solidFill>
                  <a:srgbClr val="002060"/>
                </a:solidFill>
              </a:rPr>
              <a:t/>
            </a:r>
            <a:br>
              <a:rPr lang="en-US" sz="2800" b="1" dirty="0" smtClean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/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2514600"/>
            <a:ext cx="9296400" cy="12606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IN" sz="2650" b="1" spc="11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IN" sz="2650" b="1" spc="11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2650" dirty="0">
              <a:latin typeface="Trebuchet MS"/>
              <a:cs typeface="Trebuchet M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062" y="505646"/>
            <a:ext cx="1947676" cy="493777"/>
          </a:xfrm>
          <a:prstGeom prst="rect">
            <a:avLst/>
          </a:prstGeom>
        </p:spPr>
      </p:pic>
      <p:pic>
        <p:nvPicPr>
          <p:cNvPr id="6" name="Image 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0" y="6248400"/>
            <a:ext cx="220980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33600" y="2286000"/>
            <a:ext cx="573722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          </a:t>
            </a:r>
          </a:p>
          <a:p>
            <a:endParaRPr lang="en-IN" sz="2800" b="1" dirty="0"/>
          </a:p>
          <a:p>
            <a:r>
              <a:rPr lang="en-IN" sz="2800" b="1" dirty="0"/>
              <a:t> </a:t>
            </a:r>
          </a:p>
          <a:p>
            <a:endParaRPr lang="en-IN" dirty="0"/>
          </a:p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04800"/>
            <a:ext cx="8402320" cy="10956846"/>
          </a:xfrm>
        </p:spPr>
        <p:txBody>
          <a:bodyPr/>
          <a:lstStyle/>
          <a:p>
            <a:endParaRPr lang="en-IN" sz="2400" dirty="0" smtClean="0"/>
          </a:p>
          <a:p>
            <a:endParaRPr lang="en-IN" sz="2400" dirty="0"/>
          </a:p>
          <a:p>
            <a:r>
              <a:rPr lang="en-IN" sz="2400" dirty="0" smtClean="0"/>
              <a:t>Grid</a:t>
            </a:r>
          </a:p>
          <a:p>
            <a:r>
              <a:rPr lang="en-IN" sz="2400" dirty="0"/>
              <a:t>Typography</a:t>
            </a:r>
          </a:p>
          <a:p>
            <a:r>
              <a:rPr lang="en-IN" sz="2400" dirty="0" smtClean="0"/>
              <a:t>Table</a:t>
            </a:r>
          </a:p>
          <a:p>
            <a:r>
              <a:rPr lang="en-IN" sz="2400" dirty="0" smtClean="0"/>
              <a:t>Images</a:t>
            </a:r>
          </a:p>
          <a:p>
            <a:r>
              <a:rPr lang="en-IN" sz="2400" dirty="0" smtClean="0"/>
              <a:t>Jumbotron</a:t>
            </a:r>
          </a:p>
          <a:p>
            <a:r>
              <a:rPr lang="en-IN" sz="2400" dirty="0" smtClean="0"/>
              <a:t>Wells</a:t>
            </a:r>
          </a:p>
          <a:p>
            <a:r>
              <a:rPr lang="en-IN" sz="2400" dirty="0" smtClean="0"/>
              <a:t>Alerts</a:t>
            </a:r>
          </a:p>
          <a:p>
            <a:r>
              <a:rPr lang="en-IN" sz="2400" dirty="0" smtClean="0"/>
              <a:t>Buttons</a:t>
            </a:r>
          </a:p>
          <a:p>
            <a:r>
              <a:rPr lang="en-US" sz="2400" dirty="0" smtClean="0"/>
              <a:t>Glyphicons</a:t>
            </a:r>
          </a:p>
          <a:p>
            <a:r>
              <a:rPr lang="en-IN" sz="2400" dirty="0"/>
              <a:t>progress </a:t>
            </a:r>
            <a:r>
              <a:rPr lang="en-IN" sz="2400" dirty="0" smtClean="0"/>
              <a:t>bar</a:t>
            </a:r>
          </a:p>
          <a:p>
            <a:r>
              <a:rPr lang="en-IN" sz="2400" dirty="0" smtClean="0"/>
              <a:t>Pagination</a:t>
            </a:r>
          </a:p>
          <a:p>
            <a:r>
              <a:rPr lang="en-US" sz="2400" dirty="0" smtClean="0"/>
              <a:t>Pager</a:t>
            </a:r>
          </a:p>
          <a:p>
            <a:r>
              <a:rPr lang="en-US" sz="2400" dirty="0" smtClean="0"/>
              <a:t>Dropdown</a:t>
            </a:r>
          </a:p>
          <a:p>
            <a:r>
              <a:rPr lang="en-US" sz="2400" dirty="0" smtClean="0"/>
              <a:t>Navbar</a:t>
            </a:r>
            <a:endParaRPr lang="en-US" sz="2400" dirty="0" smtClean="0"/>
          </a:p>
          <a:p>
            <a:r>
              <a:rPr lang="en-IN" sz="2400" dirty="0"/>
              <a:t>Input in form</a:t>
            </a:r>
            <a:endParaRPr lang="en-IN" sz="2400" dirty="0" smtClean="0"/>
          </a:p>
          <a:p>
            <a:endParaRPr lang="en-IN" sz="2800" dirty="0" smtClean="0"/>
          </a:p>
          <a:p>
            <a:endParaRPr lang="en-US" sz="2800" dirty="0" smtClean="0"/>
          </a:p>
          <a:p>
            <a:endParaRPr lang="en-IN" sz="2800" dirty="0" smtClean="0"/>
          </a:p>
          <a:p>
            <a:endParaRPr lang="en-IN" sz="2800" dirty="0" smtClean="0"/>
          </a:p>
          <a:p>
            <a:endParaRPr lang="en-IN" sz="2800" dirty="0" smtClean="0"/>
          </a:p>
          <a:p>
            <a:endParaRPr lang="en-IN" sz="2800" dirty="0" smtClean="0"/>
          </a:p>
          <a:p>
            <a:endParaRPr lang="en-IN" sz="2800" dirty="0" smtClean="0"/>
          </a:p>
          <a:p>
            <a:endParaRPr lang="en-IN" sz="2800" dirty="0" smtClean="0"/>
          </a:p>
          <a:p>
            <a:endParaRPr lang="en-IN" sz="2800" dirty="0" smtClean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6101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33400"/>
            <a:ext cx="8402320" cy="7140416"/>
          </a:xfrm>
        </p:spPr>
        <p:txBody>
          <a:bodyPr/>
          <a:lstStyle/>
          <a:p>
            <a:pPr algn="l"/>
            <a:r>
              <a:rPr lang="en-US" sz="2800" dirty="0">
                <a:solidFill>
                  <a:srgbClr val="002060"/>
                </a:solidFill>
              </a:rPr>
              <a:t>The </a:t>
            </a:r>
            <a:r>
              <a:rPr lang="en-US" sz="2800" b="1" dirty="0">
                <a:solidFill>
                  <a:srgbClr val="002060"/>
                </a:solidFill>
              </a:rPr>
              <a:t>basic grid in Bootstrap</a:t>
            </a:r>
            <a:r>
              <a:rPr lang="en-US" sz="2800" dirty="0">
                <a:solidFill>
                  <a:srgbClr val="002060"/>
                </a:solidFill>
              </a:rPr>
              <a:t> is used </a:t>
            </a:r>
            <a:r>
              <a:rPr lang="en-US" sz="2800" dirty="0" smtClean="0">
                <a:solidFill>
                  <a:srgbClr val="002060"/>
                </a:solidFill>
              </a:rPr>
              <a:t>to</a:t>
            </a:r>
          </a:p>
          <a:p>
            <a:pPr algn="l"/>
            <a:endParaRPr lang="en-US" sz="2800" dirty="0" smtClean="0">
              <a:solidFill>
                <a:srgbClr val="002060"/>
              </a:solidFill>
            </a:endParaRPr>
          </a:p>
          <a:p>
            <a:r>
              <a:rPr lang="en-US" sz="2000" b="1" dirty="0" smtClean="0"/>
              <a:t>Create </a:t>
            </a:r>
            <a:r>
              <a:rPr lang="en-US" sz="2000" b="1" dirty="0"/>
              <a:t>responsive layouts: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It makes web pages automatically adjust and look good on all screen sizes (mobile, tablet, desktop) without extra CSS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Arrange content systematically: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It helps to organize content in rows and columns, making the layout clean and structured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Provide flexibility: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Using the 12-column grid system, you can easily divide the page into different sections (like half-half, one-third, etc.) as needed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Save time and effort: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It eliminates the need to write complex CSS for layouts. The pre-defined grid classes handle widths, alignment, and spacing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Ensure consistency: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The same grid system can be used throughout the website, maintaining a uniform design.</a:t>
            </a:r>
          </a:p>
          <a:p>
            <a:pPr algn="l"/>
            <a:endParaRPr lang="en-IN" sz="2800" b="1" u="sng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84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38200"/>
            <a:ext cx="8547418" cy="861774"/>
          </a:xfrm>
        </p:spPr>
        <p:txBody>
          <a:bodyPr/>
          <a:lstStyle/>
          <a:p>
            <a:r>
              <a:rPr lang="en-US" sz="2800" b="1" dirty="0"/>
              <a:t/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0"/>
            <a:ext cx="8402320" cy="7571303"/>
          </a:xfrm>
        </p:spPr>
        <p:txBody>
          <a:bodyPr/>
          <a:lstStyle/>
          <a:p>
            <a:endParaRPr lang="en-US" sz="2800" b="1" dirty="0" smtClean="0">
              <a:solidFill>
                <a:srgbClr val="002060"/>
              </a:solidFill>
            </a:endParaRPr>
          </a:p>
          <a:p>
            <a:r>
              <a:rPr lang="en-US" sz="2800" b="1" dirty="0" smtClean="0">
                <a:solidFill>
                  <a:srgbClr val="002060"/>
                </a:solidFill>
              </a:rPr>
              <a:t>Why </a:t>
            </a:r>
            <a:r>
              <a:rPr lang="en-US" sz="2800" b="1" dirty="0">
                <a:solidFill>
                  <a:srgbClr val="002060"/>
                </a:solidFill>
              </a:rPr>
              <a:t>we use typography in </a:t>
            </a:r>
            <a:r>
              <a:rPr lang="en-US" sz="2800" b="1" dirty="0" smtClean="0">
                <a:solidFill>
                  <a:srgbClr val="002060"/>
                </a:solidFill>
              </a:rPr>
              <a:t>Bootstrap</a:t>
            </a:r>
          </a:p>
          <a:p>
            <a:endParaRPr lang="en-US" sz="2800" b="1" dirty="0" smtClean="0">
              <a:solidFill>
                <a:srgbClr val="002060"/>
              </a:solidFill>
            </a:endParaRPr>
          </a:p>
          <a:p>
            <a:r>
              <a:rPr lang="en-US" sz="2000" b="1" dirty="0" smtClean="0"/>
              <a:t>Ensure </a:t>
            </a:r>
            <a:r>
              <a:rPr lang="en-US" sz="2000" b="1" dirty="0"/>
              <a:t>consistent styling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Bootstrap provides ready-made classes for headings, paragraphs, lists, blockquotes, etc., so your text looks clean and uniform across your whole site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Save development time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You don’t have to write custom CSS for fonts, sizes, line heights, or margins — Bootstrap handles it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Make text responsive and readable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Bootstrap’s typography scales well on different devices and screen sizes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Provide utility classes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It offers classes like .text-center, .text-muted, .lead, etc., to easily style and align text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Improve user experience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Well-designed typography improves readability, making content easier and more enjoyable to read.</a:t>
            </a:r>
          </a:p>
          <a:p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49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8402320" cy="6278642"/>
          </a:xfrm>
        </p:spPr>
        <p:txBody>
          <a:bodyPr/>
          <a:lstStyle/>
          <a:p>
            <a:r>
              <a:rPr lang="en-US" sz="2800" b="1" dirty="0">
                <a:solidFill>
                  <a:srgbClr val="002060"/>
                </a:solidFill>
              </a:rPr>
              <a:t>Why we use tables in </a:t>
            </a:r>
            <a:r>
              <a:rPr lang="en-US" sz="2800" b="1" dirty="0" smtClean="0">
                <a:solidFill>
                  <a:srgbClr val="002060"/>
                </a:solidFill>
              </a:rPr>
              <a:t>Bootstrap</a:t>
            </a:r>
          </a:p>
          <a:p>
            <a:endParaRPr lang="en-US" sz="2800" b="1" dirty="0" smtClean="0">
              <a:solidFill>
                <a:srgbClr val="002060"/>
              </a:solidFill>
            </a:endParaRPr>
          </a:p>
          <a:p>
            <a:r>
              <a:rPr lang="en-US" sz="1800" b="1" dirty="0" smtClean="0"/>
              <a:t>Quickly </a:t>
            </a:r>
            <a:r>
              <a:rPr lang="en-US" sz="1800" b="1" dirty="0"/>
              <a:t>create styled tables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Bootstrap provides built-in classes (.table, .table-striped, .table-bordered, etc.) to make tables look clean and professional without writing custom CSS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Ensure consistency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All tables across your site will have a uniform style, improving the overall design consistency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Add responsive features easily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With classes like .table-responsive, Bootstrap makes tables scroll horizontally on small screens, keeping your data accessible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Save development time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You don’t need to design table styles from scratch — Bootstrap’s pre-defined styles handle spacing, borders, hover effects, and colors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Enhance user experience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Readable, well-formatted tables help users quickly understand and compare data</a:t>
            </a:r>
          </a:p>
          <a:p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65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8547418" cy="430887"/>
          </a:xfrm>
        </p:spPr>
        <p:txBody>
          <a:bodyPr/>
          <a:lstStyle/>
          <a:p>
            <a:r>
              <a:rPr lang="en-IN" sz="2800" b="1" dirty="0"/>
              <a:t>Images in Bootstrap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914400"/>
            <a:ext cx="8402320" cy="6671057"/>
          </a:xfrm>
        </p:spPr>
        <p:txBody>
          <a:bodyPr/>
          <a:lstStyle/>
          <a:p>
            <a:r>
              <a:rPr lang="en-US" sz="1800" b="1" dirty="0"/>
              <a:t>Responsive Design:</a:t>
            </a:r>
            <a:endParaRPr lang="en-US" sz="1800" dirty="0"/>
          </a:p>
          <a:p>
            <a:r>
              <a:rPr lang="en-US" sz="1800" dirty="0"/>
              <a:t>Bootstrap provides the .</a:t>
            </a:r>
            <a:r>
              <a:rPr lang="en-US" sz="1800" dirty="0" err="1"/>
              <a:t>img</a:t>
            </a:r>
            <a:r>
              <a:rPr lang="en-US" sz="1800" dirty="0"/>
              <a:t>-fluid class to make images automatically resize according to the screen size.</a:t>
            </a:r>
          </a:p>
          <a:p>
            <a:r>
              <a:rPr lang="en-US" sz="1800" dirty="0"/>
              <a:t>This helps in creating mobile-friendly and responsive websites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Easy Styling:</a:t>
            </a:r>
            <a:endParaRPr lang="en-US" sz="1800" dirty="0"/>
          </a:p>
          <a:p>
            <a:r>
              <a:rPr lang="en-US" sz="1800" dirty="0"/>
              <a:t>Bootstrap offers classes like .rounded, .rounded-circle, and .</a:t>
            </a:r>
            <a:r>
              <a:rPr lang="en-US" sz="1800" dirty="0" err="1"/>
              <a:t>img</a:t>
            </a:r>
            <a:r>
              <a:rPr lang="en-US" sz="1800" dirty="0"/>
              <a:t>-thumbnail to style images without writing custom CSS.</a:t>
            </a:r>
          </a:p>
          <a:p>
            <a:r>
              <a:rPr lang="en-US" sz="1800" dirty="0"/>
              <a:t>It saves time and effort in image formatting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Image Alignment:</a:t>
            </a:r>
            <a:endParaRPr lang="en-US" sz="1800" dirty="0"/>
          </a:p>
          <a:p>
            <a:r>
              <a:rPr lang="en-US" sz="1800" dirty="0"/>
              <a:t>Bootstrap allows easy alignment of images using utility classes like .float-start, .float-end, and .mx-auto.</a:t>
            </a:r>
          </a:p>
          <a:p>
            <a:r>
              <a:rPr lang="en-US" sz="1800" dirty="0"/>
              <a:t>This helps in proper layout design and positioning of images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Content Presentation:</a:t>
            </a:r>
            <a:endParaRPr lang="en-US" sz="1800" dirty="0"/>
          </a:p>
          <a:p>
            <a:r>
              <a:rPr lang="en-US" sz="1800" dirty="0"/>
              <a:t>Images make content more attractive and help in better communication of information.</a:t>
            </a:r>
          </a:p>
          <a:p>
            <a:r>
              <a:rPr lang="en-US" sz="1800" dirty="0"/>
              <a:t>They are often used in cards, galleries, and banners to grab user attention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Improved User Experience:</a:t>
            </a:r>
            <a:endParaRPr lang="en-US" sz="1800" dirty="0"/>
          </a:p>
          <a:p>
            <a:r>
              <a:rPr lang="en-US" sz="1800" dirty="0"/>
              <a:t>Visually appealing images increase user engagement.</a:t>
            </a:r>
          </a:p>
          <a:p>
            <a:r>
              <a:rPr lang="en-US" sz="1800" dirty="0"/>
              <a:t>Images make the website more interactive and professional.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275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47418" cy="430887"/>
          </a:xfrm>
        </p:spPr>
        <p:txBody>
          <a:bodyPr/>
          <a:lstStyle/>
          <a:p>
            <a:r>
              <a:rPr lang="en-IN" sz="2800" b="1" dirty="0"/>
              <a:t>Jumbotron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8402320" cy="5701561"/>
          </a:xfrm>
        </p:spPr>
        <p:txBody>
          <a:bodyPr/>
          <a:lstStyle/>
          <a:p>
            <a:r>
              <a:rPr lang="en-US" b="1" dirty="0"/>
              <a:t>Highlight Key Content:</a:t>
            </a:r>
            <a:endParaRPr lang="en-US" dirty="0"/>
          </a:p>
          <a:p>
            <a:r>
              <a:rPr lang="en-US" dirty="0"/>
              <a:t>The Jumbotron is used to draw attention to </a:t>
            </a:r>
            <a:r>
              <a:rPr lang="en-US" b="1" dirty="0"/>
              <a:t>important messages</a:t>
            </a:r>
            <a:r>
              <a:rPr lang="en-US" dirty="0"/>
              <a:t>, such as welcome text, titles, or promotions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Attractive Layout:</a:t>
            </a:r>
            <a:endParaRPr lang="en-US" dirty="0"/>
          </a:p>
          <a:p>
            <a:r>
              <a:rPr lang="en-US" dirty="0"/>
              <a:t>It provides a </a:t>
            </a:r>
            <a:r>
              <a:rPr lang="en-US" b="1" dirty="0"/>
              <a:t>large padded area</a:t>
            </a:r>
            <a:r>
              <a:rPr lang="en-US" dirty="0"/>
              <a:t> with bold text and optional background color or image, making the content stand out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User Engagement:</a:t>
            </a:r>
            <a:endParaRPr lang="en-US" dirty="0"/>
          </a:p>
          <a:p>
            <a:r>
              <a:rPr lang="en-US" dirty="0"/>
              <a:t>A Jumbotron creates a strong first impression and helps </a:t>
            </a:r>
            <a:r>
              <a:rPr lang="en-US" b="1" dirty="0"/>
              <a:t>engage visitors quickly</a:t>
            </a:r>
            <a:r>
              <a:rPr lang="en-US" dirty="0"/>
              <a:t> when they open the website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Easy to Use:</a:t>
            </a:r>
            <a:endParaRPr lang="en-US" dirty="0"/>
          </a:p>
          <a:p>
            <a:r>
              <a:rPr lang="en-US" dirty="0"/>
              <a:t>Bootstrap provides a simple structure to create a Jumbotron without writing much custom CSS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Responsive Design:</a:t>
            </a:r>
            <a:endParaRPr lang="en-US" dirty="0"/>
          </a:p>
          <a:p>
            <a:r>
              <a:rPr lang="en-US" dirty="0"/>
              <a:t>The Jumbotron is fully </a:t>
            </a:r>
            <a:r>
              <a:rPr lang="en-US" b="1" dirty="0"/>
              <a:t>responsive</a:t>
            </a:r>
            <a:r>
              <a:rPr lang="en-US" dirty="0"/>
              <a:t> and works well on all screen sizes.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58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19200"/>
            <a:ext cx="8547418" cy="492443"/>
          </a:xfrm>
        </p:spPr>
        <p:txBody>
          <a:bodyPr/>
          <a:lstStyle/>
          <a:p>
            <a:r>
              <a:rPr lang="en-IN" sz="3200" b="1" dirty="0" smtClean="0"/>
              <a:t>wells</a:t>
            </a:r>
            <a:endParaRPr lang="en-IN"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427" y="2363142"/>
            <a:ext cx="8402320" cy="4801314"/>
          </a:xfrm>
        </p:spPr>
        <p:txBody>
          <a:bodyPr/>
          <a:lstStyle/>
          <a:p>
            <a:r>
              <a:rPr lang="en-US" b="1" dirty="0"/>
              <a:t>Highlight Content:</a:t>
            </a:r>
            <a:endParaRPr lang="en-US" dirty="0"/>
          </a:p>
          <a:p>
            <a:r>
              <a:rPr lang="en-US" dirty="0"/>
              <a:t>A well is used to make </a:t>
            </a:r>
            <a:r>
              <a:rPr lang="en-US" b="1" dirty="0"/>
              <a:t>important text or content stand out</a:t>
            </a:r>
            <a:r>
              <a:rPr lang="en-US" dirty="0"/>
              <a:t> on a webpage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Improve Readability:</a:t>
            </a:r>
            <a:endParaRPr lang="en-US" dirty="0"/>
          </a:p>
          <a:p>
            <a:r>
              <a:rPr lang="en-US" dirty="0"/>
              <a:t>It provides </a:t>
            </a:r>
            <a:r>
              <a:rPr lang="en-US" b="1" dirty="0"/>
              <a:t>padding and a background</a:t>
            </a:r>
            <a:r>
              <a:rPr lang="en-US" dirty="0"/>
              <a:t> that separates the content from the rest of the page, making it easier to read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Simple Styling Without CSS:</a:t>
            </a:r>
            <a:endParaRPr lang="en-US" dirty="0"/>
          </a:p>
          <a:p>
            <a:r>
              <a:rPr lang="en-US" dirty="0"/>
              <a:t>Using the class .well, developers can easily apply a </a:t>
            </a:r>
            <a:r>
              <a:rPr lang="en-US" b="1" dirty="0"/>
              <a:t>box-like design</a:t>
            </a:r>
            <a:r>
              <a:rPr lang="en-US" dirty="0"/>
              <a:t> without writing custom CSS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Organize Layout:</a:t>
            </a:r>
            <a:endParaRPr lang="en-US" dirty="0"/>
          </a:p>
          <a:p>
            <a:r>
              <a:rPr lang="en-US" dirty="0"/>
              <a:t>It helps to organize different sections of a page by visually </a:t>
            </a:r>
            <a:r>
              <a:rPr lang="en-US" b="1" dirty="0"/>
              <a:t>grouping related content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240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8547418" cy="430887"/>
          </a:xfrm>
        </p:spPr>
        <p:txBody>
          <a:bodyPr/>
          <a:lstStyle/>
          <a:p>
            <a:r>
              <a:rPr lang="en-IN" sz="2800" b="1" dirty="0"/>
              <a:t>Alerts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990600"/>
            <a:ext cx="8402320" cy="6694140"/>
          </a:xfrm>
        </p:spPr>
        <p:txBody>
          <a:bodyPr/>
          <a:lstStyle/>
          <a:p>
            <a:r>
              <a:rPr lang="en-US" b="1" dirty="0"/>
              <a:t>Show Important Messages:</a:t>
            </a:r>
            <a:endParaRPr lang="en-US" dirty="0"/>
          </a:p>
          <a:p>
            <a:r>
              <a:rPr lang="en-US" dirty="0"/>
              <a:t>Alerts are used to show </a:t>
            </a:r>
            <a:r>
              <a:rPr lang="en-US" b="1" dirty="0"/>
              <a:t>success</a:t>
            </a:r>
            <a:r>
              <a:rPr lang="en-US" dirty="0"/>
              <a:t>, </a:t>
            </a:r>
            <a:r>
              <a:rPr lang="en-US" b="1" dirty="0"/>
              <a:t>warning</a:t>
            </a:r>
            <a:r>
              <a:rPr lang="en-US" dirty="0"/>
              <a:t>, </a:t>
            </a:r>
            <a:r>
              <a:rPr lang="en-US" b="1" dirty="0"/>
              <a:t>error</a:t>
            </a:r>
            <a:r>
              <a:rPr lang="en-US" dirty="0"/>
              <a:t>, or </a:t>
            </a:r>
            <a:r>
              <a:rPr lang="en-US" b="1" dirty="0"/>
              <a:t>info</a:t>
            </a:r>
            <a:r>
              <a:rPr lang="en-US" dirty="0"/>
              <a:t> messages like:</a:t>
            </a:r>
          </a:p>
          <a:p>
            <a:pPr lvl="1"/>
            <a:r>
              <a:rPr lang="en-US" dirty="0"/>
              <a:t>Form submitted successfully ✅</a:t>
            </a:r>
          </a:p>
          <a:p>
            <a:pPr lvl="1"/>
            <a:r>
              <a:rPr lang="en-US" dirty="0"/>
              <a:t>Error occurred ❌</a:t>
            </a:r>
          </a:p>
          <a:p>
            <a:pPr lvl="1"/>
            <a:r>
              <a:rPr lang="en-US" dirty="0"/>
              <a:t>Please fill out all fields </a:t>
            </a:r>
            <a:r>
              <a:rPr lang="en-US" dirty="0" smtClean="0"/>
              <a:t>⚠️</a:t>
            </a:r>
          </a:p>
          <a:p>
            <a:pPr lvl="1"/>
            <a:endParaRPr lang="en-US" dirty="0"/>
          </a:p>
          <a:p>
            <a:r>
              <a:rPr lang="en-US" b="1" dirty="0"/>
              <a:t>Predefined Color Styles:</a:t>
            </a:r>
            <a:endParaRPr lang="en-US" dirty="0"/>
          </a:p>
          <a:p>
            <a:r>
              <a:rPr lang="en-US" dirty="0"/>
              <a:t>Bootstrap provides built-in classes like:</a:t>
            </a:r>
          </a:p>
          <a:p>
            <a:pPr lvl="1"/>
            <a:r>
              <a:rPr lang="en-US" dirty="0"/>
              <a:t>.alert-success (green)</a:t>
            </a:r>
          </a:p>
          <a:p>
            <a:pPr lvl="1"/>
            <a:r>
              <a:rPr lang="en-US" dirty="0"/>
              <a:t>.alert-danger (red)</a:t>
            </a:r>
          </a:p>
          <a:p>
            <a:pPr lvl="1"/>
            <a:r>
              <a:rPr lang="en-US" dirty="0"/>
              <a:t>.alert-warning (yellow)</a:t>
            </a:r>
          </a:p>
          <a:p>
            <a:pPr lvl="1"/>
            <a:r>
              <a:rPr lang="en-US" dirty="0"/>
              <a:t>.alert-info (blue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  <a:p>
            <a:r>
              <a:rPr lang="en-US" b="1" dirty="0"/>
              <a:t>No Extra CSS Needed:</a:t>
            </a:r>
            <a:endParaRPr lang="en-US" dirty="0"/>
          </a:p>
          <a:p>
            <a:r>
              <a:rPr lang="en-US" dirty="0"/>
              <a:t>You can create professional-looking alert messages without writing custom CSS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Dismissible Alerts:</a:t>
            </a:r>
            <a:endParaRPr lang="en-US" dirty="0"/>
          </a:p>
          <a:p>
            <a:r>
              <a:rPr lang="en-US" dirty="0"/>
              <a:t>Bootstrap allows alerts to be </a:t>
            </a:r>
            <a:r>
              <a:rPr lang="en-US" b="1" dirty="0"/>
              <a:t>closed by the user</a:t>
            </a:r>
            <a:r>
              <a:rPr lang="en-US" dirty="0"/>
              <a:t> using the .alert-dismissible class and a close (×) button.</a:t>
            </a:r>
          </a:p>
          <a:p>
            <a:r>
              <a:rPr lang="en-US" b="1" dirty="0"/>
              <a:t>Responsive &amp; Mobile-Friendly:</a:t>
            </a:r>
            <a:endParaRPr lang="en-US" dirty="0"/>
          </a:p>
          <a:p>
            <a:r>
              <a:rPr lang="en-US" dirty="0"/>
              <a:t>Alerts automatically adjust to screen size and look good on all devices.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27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8547418" cy="430887"/>
          </a:xfrm>
        </p:spPr>
        <p:txBody>
          <a:bodyPr/>
          <a:lstStyle/>
          <a:p>
            <a:r>
              <a:rPr lang="en-IN" sz="2800" b="1" dirty="0"/>
              <a:t>Buttons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990600"/>
            <a:ext cx="8621829" cy="6486391"/>
          </a:xfrm>
        </p:spPr>
        <p:txBody>
          <a:bodyPr/>
          <a:lstStyle/>
          <a:p>
            <a:r>
              <a:rPr lang="en-US" b="1" dirty="0"/>
              <a:t>Ready-Made Styles:</a:t>
            </a:r>
            <a:endParaRPr lang="en-US" dirty="0"/>
          </a:p>
          <a:p>
            <a:r>
              <a:rPr lang="en-US" dirty="0"/>
              <a:t>Bootstrap provides various </a:t>
            </a:r>
            <a:r>
              <a:rPr lang="en-US" b="1" dirty="0"/>
              <a:t>predefined button classes</a:t>
            </a:r>
            <a:r>
              <a:rPr lang="en-US" dirty="0"/>
              <a:t> like: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btn</a:t>
            </a:r>
            <a:r>
              <a:rPr lang="en-US" dirty="0"/>
              <a:t>-primary (blue – main action)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btn</a:t>
            </a:r>
            <a:r>
              <a:rPr lang="en-US" dirty="0"/>
              <a:t>-success (green – success)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btn</a:t>
            </a:r>
            <a:r>
              <a:rPr lang="en-US" dirty="0"/>
              <a:t>-danger (red – delete or error)</a:t>
            </a:r>
          </a:p>
          <a:p>
            <a:pPr lvl="1"/>
            <a:r>
              <a:rPr lang="en-US" dirty="0"/>
              <a:t>.btn-warning, .btn-info, .btn-light, .</a:t>
            </a:r>
            <a:r>
              <a:rPr lang="en-US" dirty="0" smtClean="0"/>
              <a:t>btn-dark</a:t>
            </a:r>
          </a:p>
          <a:p>
            <a:pPr lvl="1"/>
            <a:endParaRPr lang="en-US" dirty="0"/>
          </a:p>
          <a:p>
            <a:r>
              <a:rPr lang="en-US" b="1" dirty="0"/>
              <a:t>Consistent Design:</a:t>
            </a:r>
            <a:endParaRPr lang="en-US" dirty="0"/>
          </a:p>
          <a:p>
            <a:r>
              <a:rPr lang="en-US" dirty="0"/>
              <a:t>Ensures that all buttons have a </a:t>
            </a:r>
            <a:r>
              <a:rPr lang="en-US" b="1" dirty="0"/>
              <a:t>uniform look</a:t>
            </a:r>
            <a:r>
              <a:rPr lang="en-US" dirty="0"/>
              <a:t> across the website, improving the design quality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Customizable Sizes and States:</a:t>
            </a:r>
            <a:endParaRPr lang="en-US" dirty="0"/>
          </a:p>
          <a:p>
            <a:r>
              <a:rPr lang="en-US" dirty="0"/>
              <a:t>You can easily change the </a:t>
            </a:r>
            <a:r>
              <a:rPr lang="en-US" b="1" dirty="0"/>
              <a:t>size</a:t>
            </a:r>
            <a:r>
              <a:rPr lang="en-US" dirty="0"/>
              <a:t> of buttons using classes like .btn-</a:t>
            </a:r>
            <a:r>
              <a:rPr lang="en-US" dirty="0" err="1"/>
              <a:t>sm</a:t>
            </a:r>
            <a:r>
              <a:rPr lang="en-US" dirty="0"/>
              <a:t>, .</a:t>
            </a:r>
            <a:r>
              <a:rPr lang="en-US" dirty="0" smtClean="0"/>
              <a:t>btn-</a:t>
            </a:r>
            <a:r>
              <a:rPr lang="en-US" dirty="0" err="1" smtClean="0"/>
              <a:t>lg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Buttons can be </a:t>
            </a:r>
            <a:r>
              <a:rPr lang="en-US" b="1" dirty="0"/>
              <a:t>disabled</a:t>
            </a:r>
            <a:r>
              <a:rPr lang="en-US" dirty="0"/>
              <a:t>, </a:t>
            </a:r>
            <a:r>
              <a:rPr lang="en-US" b="1" dirty="0"/>
              <a:t>active</a:t>
            </a:r>
            <a:r>
              <a:rPr lang="en-US" dirty="0"/>
              <a:t>, or </a:t>
            </a:r>
            <a:r>
              <a:rPr lang="en-US" b="1" dirty="0"/>
              <a:t>block level</a:t>
            </a:r>
            <a:r>
              <a:rPr lang="en-US" dirty="0"/>
              <a:t> using utility classes.</a:t>
            </a:r>
          </a:p>
          <a:p>
            <a:r>
              <a:rPr lang="en-US" b="1" dirty="0"/>
              <a:t>Responsive and Mobile-Friendly:</a:t>
            </a:r>
            <a:endParaRPr lang="en-US" dirty="0"/>
          </a:p>
          <a:p>
            <a:r>
              <a:rPr lang="en-US" dirty="0"/>
              <a:t>Bootstrap buttons are </a:t>
            </a:r>
            <a:r>
              <a:rPr lang="en-US" b="1" dirty="0"/>
              <a:t>responsive</a:t>
            </a:r>
            <a:r>
              <a:rPr lang="en-US" dirty="0"/>
              <a:t> and look good on all screen sizes.</a:t>
            </a:r>
          </a:p>
          <a:p>
            <a:r>
              <a:rPr lang="en-US" b="1" dirty="0"/>
              <a:t>Ease of Use:</a:t>
            </a:r>
            <a:endParaRPr lang="en-US" dirty="0"/>
          </a:p>
          <a:p>
            <a:r>
              <a:rPr lang="en-US" dirty="0"/>
              <a:t>Saves time because no need to write custom CSS. Just add a Bootstrap class to a &lt;button&gt; or &lt;a&gt; tag.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817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490" y="1581403"/>
            <a:ext cx="8547418" cy="430887"/>
          </a:xfrm>
        </p:spPr>
        <p:txBody>
          <a:bodyPr/>
          <a:lstStyle/>
          <a:p>
            <a:r>
              <a:rPr lang="en-US" sz="2800" b="1" dirty="0"/>
              <a:t>Glyphicons</a:t>
            </a:r>
            <a:endParaRPr lang="en-IN" sz="2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427" y="2363142"/>
            <a:ext cx="8402320" cy="4608954"/>
          </a:xfrm>
        </p:spPr>
        <p:txBody>
          <a:bodyPr/>
          <a:lstStyle/>
          <a:p>
            <a:r>
              <a:rPr lang="en-US" sz="2000" b="1" dirty="0"/>
              <a:t>Visual Clarity:</a:t>
            </a:r>
            <a:endParaRPr lang="en-US" sz="2000" dirty="0"/>
          </a:p>
          <a:p>
            <a:r>
              <a:rPr lang="en-US" sz="2000" dirty="0"/>
              <a:t>Icons help users </a:t>
            </a:r>
            <a:r>
              <a:rPr lang="en-US" sz="2000" b="1" dirty="0"/>
              <a:t>understand actions quickly</a:t>
            </a:r>
            <a:r>
              <a:rPr lang="en-US" sz="2000" dirty="0"/>
              <a:t> without reading the text.</a:t>
            </a:r>
          </a:p>
          <a:p>
            <a:pPr lvl="1"/>
            <a:r>
              <a:rPr lang="en-US" sz="2000" dirty="0"/>
              <a:t>🔍 </a:t>
            </a:r>
            <a:r>
              <a:rPr lang="en-US" sz="2000" dirty="0" smtClean="0"/>
              <a:t>glyphicon-search </a:t>
            </a:r>
            <a:r>
              <a:rPr lang="en-US" sz="2000" dirty="0"/>
              <a:t>→ for </a:t>
            </a:r>
            <a:r>
              <a:rPr lang="en-US" sz="2000" b="1" dirty="0"/>
              <a:t>search</a:t>
            </a:r>
            <a:endParaRPr lang="en-US" sz="2000" dirty="0"/>
          </a:p>
          <a:p>
            <a:pPr lvl="1"/>
            <a:r>
              <a:rPr lang="en-US" sz="2000" dirty="0"/>
              <a:t>🖨️ glyphicon-print → for </a:t>
            </a:r>
            <a:r>
              <a:rPr lang="en-US" sz="2000" b="1" dirty="0" smtClean="0"/>
              <a:t>print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Professional Look:</a:t>
            </a:r>
            <a:endParaRPr lang="en-US" sz="2000" dirty="0"/>
          </a:p>
          <a:p>
            <a:r>
              <a:rPr lang="en-US" sz="2000" dirty="0"/>
              <a:t>Glyphicons make websites look </a:t>
            </a:r>
            <a:r>
              <a:rPr lang="en-US" sz="2000" b="1" dirty="0"/>
              <a:t>modern and attractive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Save Time and Space:</a:t>
            </a:r>
            <a:endParaRPr lang="en-US" sz="2000" dirty="0"/>
          </a:p>
          <a:p>
            <a:r>
              <a:rPr lang="en-US" sz="2000" dirty="0"/>
              <a:t>Using an icon is </a:t>
            </a:r>
            <a:r>
              <a:rPr lang="en-US" sz="2000" b="1" dirty="0"/>
              <a:t>faster</a:t>
            </a:r>
            <a:r>
              <a:rPr lang="en-US" sz="2000" dirty="0"/>
              <a:t> than writing long text.</a:t>
            </a:r>
          </a:p>
          <a:p>
            <a:r>
              <a:rPr lang="en-US" sz="2000" dirty="0"/>
              <a:t>Takes </a:t>
            </a:r>
            <a:r>
              <a:rPr lang="en-US" sz="2000" b="1" dirty="0"/>
              <a:t>less space</a:t>
            </a:r>
            <a:r>
              <a:rPr lang="en-US" sz="2000" dirty="0"/>
              <a:t> on the screen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Easy to Add:</a:t>
            </a:r>
            <a:endParaRPr lang="en-US" sz="2000" dirty="0"/>
          </a:p>
          <a:p>
            <a:r>
              <a:rPr lang="en-US" sz="2000" dirty="0"/>
              <a:t>Just use a &lt;span&gt; tag with a class.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0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547418" cy="430887"/>
          </a:xfrm>
        </p:spPr>
        <p:txBody>
          <a:bodyPr/>
          <a:lstStyle/>
          <a:p>
            <a:r>
              <a:rPr lang="en-IN" sz="2800" b="1" dirty="0"/>
              <a:t>progress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914400"/>
            <a:ext cx="8402320" cy="7386638"/>
          </a:xfrm>
        </p:spPr>
        <p:txBody>
          <a:bodyPr/>
          <a:lstStyle/>
          <a:p>
            <a:r>
              <a:rPr lang="en-US" sz="2000" dirty="0"/>
              <a:t>A </a:t>
            </a:r>
            <a:r>
              <a:rPr lang="en-US" sz="2000" b="1" dirty="0"/>
              <a:t>progress bar</a:t>
            </a:r>
            <a:r>
              <a:rPr lang="en-US" sz="2000" dirty="0"/>
              <a:t> in Bootstrap is used to </a:t>
            </a:r>
            <a:r>
              <a:rPr lang="en-US" sz="2000" b="1" dirty="0"/>
              <a:t>visually display the progress</a:t>
            </a:r>
            <a:r>
              <a:rPr lang="en-US" sz="2000" dirty="0"/>
              <a:t> of a task or process, such as file upload, form completion, or loading status. It gives users </a:t>
            </a:r>
            <a:r>
              <a:rPr lang="en-US" sz="2000" b="1" dirty="0"/>
              <a:t>feedback</a:t>
            </a:r>
            <a:r>
              <a:rPr lang="en-US" sz="2000" dirty="0"/>
              <a:t> about how much work has been completed and how much is left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b="1" dirty="0"/>
              <a:t>Show Task Completion:</a:t>
            </a:r>
            <a:endParaRPr lang="en-US" sz="2000" dirty="0"/>
          </a:p>
          <a:p>
            <a:r>
              <a:rPr lang="en-US" sz="2000" dirty="0"/>
              <a:t>It clearly shows how much of a task (like a download or form filling) is </a:t>
            </a:r>
            <a:r>
              <a:rPr lang="en-US" sz="2000" b="1" dirty="0"/>
              <a:t>completed in percentage</a:t>
            </a:r>
            <a:r>
              <a:rPr lang="en-US" sz="2000" dirty="0"/>
              <a:t>.</a:t>
            </a:r>
          </a:p>
          <a:p>
            <a:r>
              <a:rPr lang="en-US" sz="2000" b="1" dirty="0"/>
              <a:t>Improve User Experience:</a:t>
            </a:r>
            <a:endParaRPr lang="en-US" sz="2000" dirty="0"/>
          </a:p>
          <a:p>
            <a:r>
              <a:rPr lang="en-US" sz="2000" dirty="0"/>
              <a:t>Users feel more confident when they can </a:t>
            </a:r>
            <a:r>
              <a:rPr lang="en-US" sz="2000" b="1" dirty="0"/>
              <a:t>see the progress</a:t>
            </a:r>
            <a:r>
              <a:rPr lang="en-US" sz="2000" dirty="0"/>
              <a:t> of a task visually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Easy to Implement:</a:t>
            </a:r>
            <a:endParaRPr lang="en-US" sz="2000" dirty="0"/>
          </a:p>
          <a:p>
            <a:r>
              <a:rPr lang="en-US" sz="2000" dirty="0"/>
              <a:t>Bootstrap provides a </a:t>
            </a:r>
            <a:r>
              <a:rPr lang="en-US" sz="2000" b="1" dirty="0"/>
              <a:t>simple class-based system</a:t>
            </a:r>
            <a:r>
              <a:rPr lang="en-US" sz="2000" dirty="0"/>
              <a:t> to create animated or striped progress bars without writing custom CSS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Customizable:</a:t>
            </a:r>
            <a:endParaRPr lang="en-US" sz="2000" dirty="0"/>
          </a:p>
          <a:p>
            <a:r>
              <a:rPr lang="en-US" sz="2000" dirty="0"/>
              <a:t>You can change the </a:t>
            </a:r>
            <a:r>
              <a:rPr lang="en-US" sz="2000" b="1" dirty="0"/>
              <a:t>color</a:t>
            </a:r>
            <a:r>
              <a:rPr lang="en-US" sz="2000" dirty="0"/>
              <a:t>, </a:t>
            </a:r>
            <a:r>
              <a:rPr lang="en-US" sz="2000" b="1" dirty="0"/>
              <a:t>height</a:t>
            </a:r>
            <a:r>
              <a:rPr lang="en-US" sz="2000" dirty="0"/>
              <a:t>, </a:t>
            </a:r>
            <a:r>
              <a:rPr lang="en-US" sz="2000" b="1" dirty="0"/>
              <a:t>label</a:t>
            </a:r>
            <a:r>
              <a:rPr lang="en-US" sz="2000" dirty="0"/>
              <a:t>, or </a:t>
            </a:r>
            <a:r>
              <a:rPr lang="en-US" sz="2000" b="1" dirty="0"/>
              <a:t>style</a:t>
            </a:r>
            <a:r>
              <a:rPr lang="en-US" sz="2000" dirty="0"/>
              <a:t> (striped or animated) easily.</a:t>
            </a:r>
          </a:p>
          <a:p>
            <a:r>
              <a:rPr lang="en-US" sz="2000" b="1" dirty="0"/>
              <a:t>Responsive Design:</a:t>
            </a:r>
            <a:endParaRPr lang="en-US" sz="2000" dirty="0"/>
          </a:p>
          <a:p>
            <a:r>
              <a:rPr lang="en-US" sz="2000" dirty="0"/>
              <a:t>Progress bars are </a:t>
            </a:r>
            <a:r>
              <a:rPr lang="en-US" sz="2000" b="1" dirty="0"/>
              <a:t>mobile-friendly</a:t>
            </a:r>
            <a:r>
              <a:rPr lang="en-US" sz="2000" dirty="0"/>
              <a:t> and work well on all screen sizes.</a:t>
            </a:r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7989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8547418" cy="430887"/>
          </a:xfrm>
        </p:spPr>
        <p:txBody>
          <a:bodyPr/>
          <a:lstStyle/>
          <a:p>
            <a:r>
              <a:rPr lang="en-IN" sz="2800" dirty="0"/>
              <a:t>Pagination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013475"/>
            <a:ext cx="8402320" cy="6301725"/>
          </a:xfrm>
        </p:spPr>
        <p:txBody>
          <a:bodyPr/>
          <a:lstStyle/>
          <a:p>
            <a:r>
              <a:rPr lang="en-US" b="1" dirty="0"/>
              <a:t>Pagination</a:t>
            </a:r>
            <a:r>
              <a:rPr lang="en-US" dirty="0"/>
              <a:t> in Bootstrap is used to </a:t>
            </a:r>
            <a:r>
              <a:rPr lang="en-US" b="1" dirty="0"/>
              <a:t>divide large content into multiple pages</a:t>
            </a:r>
            <a:r>
              <a:rPr lang="en-US" dirty="0"/>
              <a:t> and provide </a:t>
            </a:r>
            <a:r>
              <a:rPr lang="en-US" b="1" dirty="0"/>
              <a:t>easy navigation</a:t>
            </a:r>
            <a:r>
              <a:rPr lang="en-US" dirty="0"/>
              <a:t> between them. It helps in managing large data sets like lists, tables, search results, blogs, or product listings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/>
              <a:t>Break Large Content into Pages:</a:t>
            </a:r>
            <a:endParaRPr lang="en-US" dirty="0"/>
          </a:p>
          <a:p>
            <a:r>
              <a:rPr lang="en-US" dirty="0"/>
              <a:t>When there is </a:t>
            </a:r>
            <a:r>
              <a:rPr lang="en-US" b="1" dirty="0"/>
              <a:t>too much content</a:t>
            </a:r>
            <a:r>
              <a:rPr lang="en-US" dirty="0"/>
              <a:t>, pagination helps split it into </a:t>
            </a:r>
            <a:r>
              <a:rPr lang="en-US" b="1" dirty="0"/>
              <a:t>smaller, manageable parts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Improve Performance:</a:t>
            </a:r>
            <a:endParaRPr lang="en-US" dirty="0"/>
          </a:p>
          <a:p>
            <a:r>
              <a:rPr lang="en-US" dirty="0"/>
              <a:t>Loading only a portion of data at a time helps in </a:t>
            </a:r>
            <a:r>
              <a:rPr lang="en-US" b="1" dirty="0"/>
              <a:t>faster page loading</a:t>
            </a:r>
            <a:r>
              <a:rPr lang="en-US" dirty="0"/>
              <a:t> and better performance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Pre-styled </a:t>
            </a:r>
            <a:r>
              <a:rPr lang="en-US" b="1" dirty="0"/>
              <a:t>Design:</a:t>
            </a:r>
            <a:endParaRPr lang="en-US" dirty="0"/>
          </a:p>
          <a:p>
            <a:r>
              <a:rPr lang="en-US" dirty="0"/>
              <a:t>Bootstrap provides </a:t>
            </a:r>
            <a:r>
              <a:rPr lang="en-US" b="1" dirty="0"/>
              <a:t>ready-made pagination styles</a:t>
            </a:r>
            <a:r>
              <a:rPr lang="en-US" dirty="0"/>
              <a:t> using .pagination class, saving time and effort in design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Responsive Layout:</a:t>
            </a:r>
            <a:endParaRPr lang="en-US" dirty="0"/>
          </a:p>
          <a:p>
            <a:r>
              <a:rPr lang="en-US" dirty="0"/>
              <a:t>Bootstrap pagination is </a:t>
            </a:r>
            <a:r>
              <a:rPr lang="en-US" b="1" dirty="0"/>
              <a:t>responsive</a:t>
            </a:r>
            <a:r>
              <a:rPr lang="en-US" dirty="0"/>
              <a:t> and adjusts well on mobile, tablet, and desktop screens.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663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8547418" cy="430887"/>
          </a:xfrm>
        </p:spPr>
        <p:txBody>
          <a:bodyPr/>
          <a:lstStyle/>
          <a:p>
            <a:r>
              <a:rPr lang="en-US" sz="2800" dirty="0"/>
              <a:t>pager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8402320" cy="630172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pager</a:t>
            </a:r>
            <a:r>
              <a:rPr lang="en-US" dirty="0"/>
              <a:t> is used for </a:t>
            </a:r>
            <a:r>
              <a:rPr lang="en-US" b="1" dirty="0"/>
              <a:t>simple previous/next navigation</a:t>
            </a:r>
            <a:r>
              <a:rPr lang="en-US" dirty="0"/>
              <a:t> — usually when moving between items like blog posts, articles, or forms. It is a </a:t>
            </a:r>
            <a:r>
              <a:rPr lang="en-US" b="1" dirty="0"/>
              <a:t>lightweight navigation tool</a:t>
            </a:r>
            <a:r>
              <a:rPr lang="en-US" dirty="0"/>
              <a:t> with fewer options than full pagination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Simple Navigation:</a:t>
            </a:r>
            <a:endParaRPr lang="en-US" dirty="0"/>
          </a:p>
          <a:p>
            <a:r>
              <a:rPr lang="en-US" dirty="0"/>
              <a:t>It is used when you only need </a:t>
            </a:r>
            <a:r>
              <a:rPr lang="en-US" b="1" dirty="0"/>
              <a:t>“Previous” and “Next”</a:t>
            </a:r>
            <a:r>
              <a:rPr lang="en-US" dirty="0"/>
              <a:t> buttons, instead of full pagination with page numbers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Easy to Use:</a:t>
            </a:r>
            <a:endParaRPr lang="en-US" dirty="0"/>
          </a:p>
          <a:p>
            <a:r>
              <a:rPr lang="en-US" dirty="0"/>
              <a:t>You can create it with just a few lines of code using Bootstrap’s .pager, .previous, and .next classes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Cleaner UI:</a:t>
            </a:r>
            <a:endParaRPr lang="en-US" dirty="0"/>
          </a:p>
          <a:p>
            <a:r>
              <a:rPr lang="en-US" dirty="0"/>
              <a:t>Pager is </a:t>
            </a:r>
            <a:r>
              <a:rPr lang="en-US" b="1" dirty="0"/>
              <a:t>minimal and clean</a:t>
            </a:r>
            <a:r>
              <a:rPr lang="en-US" dirty="0"/>
              <a:t>, useful when you don't want to show many page numbers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Responsive Design:</a:t>
            </a:r>
            <a:endParaRPr lang="en-US" dirty="0"/>
          </a:p>
          <a:p>
            <a:r>
              <a:rPr lang="en-US" dirty="0"/>
              <a:t>It works well on all devices (mobile, tablet, desktop) without custom styling.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119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251" y="445971"/>
            <a:ext cx="8547418" cy="553998"/>
          </a:xfrm>
        </p:spPr>
        <p:txBody>
          <a:bodyPr/>
          <a:lstStyle/>
          <a:p>
            <a:r>
              <a:rPr lang="en-US" dirty="0"/>
              <a:t>dropdown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143000"/>
            <a:ext cx="8402320" cy="620939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dropdown</a:t>
            </a:r>
            <a:r>
              <a:rPr lang="en-US" dirty="0"/>
              <a:t> in Bootstrap is used to </a:t>
            </a:r>
            <a:r>
              <a:rPr lang="en-US" b="1" dirty="0"/>
              <a:t>display a list of options</a:t>
            </a:r>
            <a:r>
              <a:rPr lang="en-US" dirty="0"/>
              <a:t> or actions when the user clicks a button or link. It is a space-saving and user-friendly way to show </a:t>
            </a:r>
            <a:r>
              <a:rPr lang="en-US" b="1" dirty="0"/>
              <a:t>multiple choices</a:t>
            </a:r>
            <a:r>
              <a:rPr lang="en-US" dirty="0"/>
              <a:t> in a compact form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Show Multiple Options:</a:t>
            </a:r>
            <a:endParaRPr lang="en-US" dirty="0"/>
          </a:p>
          <a:p>
            <a:r>
              <a:rPr lang="en-US" dirty="0"/>
              <a:t>Useful when you want to offer several actions like:</a:t>
            </a:r>
          </a:p>
          <a:p>
            <a:pPr lvl="1"/>
            <a:r>
              <a:rPr lang="en-US" dirty="0"/>
              <a:t>Profile settings</a:t>
            </a:r>
          </a:p>
          <a:p>
            <a:pPr lvl="1"/>
            <a:r>
              <a:rPr lang="en-US" dirty="0"/>
              <a:t>Navigation links</a:t>
            </a:r>
          </a:p>
          <a:p>
            <a:pPr lvl="1"/>
            <a:r>
              <a:rPr lang="en-US" dirty="0"/>
              <a:t>Filter/sort </a:t>
            </a:r>
            <a:r>
              <a:rPr lang="en-US" dirty="0" smtClean="0"/>
              <a:t>options</a:t>
            </a:r>
          </a:p>
          <a:p>
            <a:pPr lvl="1"/>
            <a:endParaRPr lang="en-US" dirty="0"/>
          </a:p>
          <a:p>
            <a:r>
              <a:rPr lang="en-US" b="1" dirty="0"/>
              <a:t>Interactive UI Element:</a:t>
            </a:r>
            <a:endParaRPr lang="en-US" dirty="0"/>
          </a:p>
          <a:p>
            <a:r>
              <a:rPr lang="en-US" dirty="0"/>
              <a:t>Makes the website more </a:t>
            </a:r>
            <a:r>
              <a:rPr lang="en-US" b="1" dirty="0"/>
              <a:t>interactive and modern</a:t>
            </a:r>
            <a:r>
              <a:rPr lang="en-US" dirty="0"/>
              <a:t> with a toggle effect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Pre-built and Stylish:</a:t>
            </a:r>
            <a:endParaRPr lang="en-US" dirty="0"/>
          </a:p>
          <a:p>
            <a:r>
              <a:rPr lang="en-US" dirty="0"/>
              <a:t>Bootstrap provides </a:t>
            </a:r>
            <a:r>
              <a:rPr lang="en-US" b="1" dirty="0"/>
              <a:t>ready-made dropdown components</a:t>
            </a:r>
            <a:r>
              <a:rPr lang="en-US" dirty="0"/>
              <a:t> that look professional and require no custom CSS.</a:t>
            </a:r>
          </a:p>
          <a:p>
            <a:r>
              <a:rPr lang="en-US" b="1" dirty="0"/>
              <a:t>Responsive and Accessible:</a:t>
            </a:r>
            <a:endParaRPr lang="en-US" dirty="0"/>
          </a:p>
          <a:p>
            <a:r>
              <a:rPr lang="en-US" dirty="0"/>
              <a:t>Dropdowns work smoothly on </a:t>
            </a:r>
            <a:r>
              <a:rPr lang="en-US" b="1" dirty="0"/>
              <a:t>all screen sizes</a:t>
            </a:r>
            <a:r>
              <a:rPr lang="en-US" dirty="0"/>
              <a:t> and support keyboard navigation.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403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547418" cy="492443"/>
          </a:xfrm>
        </p:spPr>
        <p:txBody>
          <a:bodyPr/>
          <a:lstStyle/>
          <a:p>
            <a:r>
              <a:rPr lang="en-IN" sz="3200" dirty="0" smtClean="0"/>
              <a:t>Collapse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066800"/>
            <a:ext cx="8402320" cy="611705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Collapse</a:t>
            </a:r>
            <a:r>
              <a:rPr lang="en-US" dirty="0"/>
              <a:t> component in Bootstrap is used to </a:t>
            </a:r>
            <a:r>
              <a:rPr lang="en-US" b="1" dirty="0"/>
              <a:t>hide and show content</a:t>
            </a:r>
            <a:r>
              <a:rPr lang="en-US" dirty="0"/>
              <a:t> dynamically — such as text, menus, or panels — with a smooth sliding animation. It helps in </a:t>
            </a:r>
            <a:r>
              <a:rPr lang="en-US" b="1" dirty="0"/>
              <a:t>saving space</a:t>
            </a:r>
            <a:r>
              <a:rPr lang="en-US" dirty="0"/>
              <a:t> and </a:t>
            </a:r>
            <a:r>
              <a:rPr lang="en-US" b="1" dirty="0"/>
              <a:t>organizing content</a:t>
            </a:r>
            <a:r>
              <a:rPr lang="en-US" dirty="0"/>
              <a:t> on a webpage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IN" dirty="0" smtClean="0"/>
          </a:p>
          <a:p>
            <a:r>
              <a:rPr lang="en-US" b="1" dirty="0" smtClean="0"/>
              <a:t>Save </a:t>
            </a:r>
            <a:r>
              <a:rPr lang="en-US" b="1" dirty="0"/>
              <a:t>Space on the Page:</a:t>
            </a:r>
            <a:endParaRPr lang="en-US" dirty="0"/>
          </a:p>
          <a:p>
            <a:pPr lvl="1"/>
            <a:r>
              <a:rPr lang="en-US" dirty="0"/>
              <a:t>Collapse hides extra content until the user chooses to view it, keeping the interface clean and </a:t>
            </a:r>
            <a:r>
              <a:rPr lang="en-US" b="1" dirty="0"/>
              <a:t>less cluttered</a:t>
            </a:r>
            <a:r>
              <a:rPr lang="en-US" dirty="0"/>
              <a:t>.</a:t>
            </a:r>
          </a:p>
          <a:p>
            <a:r>
              <a:rPr lang="en-US" b="1" dirty="0"/>
              <a:t>Interactive UI:</a:t>
            </a:r>
            <a:endParaRPr lang="en-US" dirty="0"/>
          </a:p>
          <a:p>
            <a:pPr lvl="1"/>
            <a:r>
              <a:rPr lang="en-US" dirty="0"/>
              <a:t>Collapse makes your website more </a:t>
            </a:r>
            <a:r>
              <a:rPr lang="en-US" b="1" dirty="0"/>
              <a:t>interactive</a:t>
            </a:r>
            <a:r>
              <a:rPr lang="en-US" dirty="0"/>
              <a:t> by letting users expand or hide sections as needed.</a:t>
            </a:r>
          </a:p>
          <a:p>
            <a:r>
              <a:rPr lang="en-US" b="1" dirty="0"/>
              <a:t>Organize Content:</a:t>
            </a:r>
            <a:endParaRPr lang="en-US" dirty="0"/>
          </a:p>
          <a:p>
            <a:pPr lvl="1"/>
            <a:r>
              <a:rPr lang="en-US" dirty="0"/>
              <a:t>Useful for </a:t>
            </a:r>
            <a:r>
              <a:rPr lang="en-US" b="1" dirty="0"/>
              <a:t>FAQs, menus, accordions</a:t>
            </a:r>
            <a:r>
              <a:rPr lang="en-US" dirty="0"/>
              <a:t>, or </a:t>
            </a:r>
            <a:r>
              <a:rPr lang="en-US" b="1" dirty="0"/>
              <a:t>sections with long text</a:t>
            </a:r>
            <a:r>
              <a:rPr lang="en-US" dirty="0"/>
              <a:t>.</a:t>
            </a:r>
          </a:p>
          <a:p>
            <a:r>
              <a:rPr lang="en-US" b="1" dirty="0"/>
              <a:t>Built-in Animation:</a:t>
            </a:r>
            <a:endParaRPr lang="en-US" dirty="0"/>
          </a:p>
          <a:p>
            <a:pPr lvl="1"/>
            <a:r>
              <a:rPr lang="en-US" dirty="0"/>
              <a:t>Bootstrap provides a smooth </a:t>
            </a:r>
            <a:r>
              <a:rPr lang="en-US" b="1" dirty="0"/>
              <a:t>slide up/down effect</a:t>
            </a:r>
            <a:r>
              <a:rPr lang="en-US" dirty="0"/>
              <a:t> without writing JavaScript or CSS manually.</a:t>
            </a:r>
          </a:p>
          <a:p>
            <a:r>
              <a:rPr lang="en-US" b="1" dirty="0"/>
              <a:t>Mobile-Friendly:</a:t>
            </a:r>
            <a:endParaRPr lang="en-US" dirty="0"/>
          </a:p>
          <a:p>
            <a:pPr lvl="1"/>
            <a:r>
              <a:rPr lang="en-US" dirty="0"/>
              <a:t>Often used in mobile navigation menus for </a:t>
            </a:r>
            <a:r>
              <a:rPr lang="en-US" b="1" dirty="0"/>
              <a:t>better responsiveness</a:t>
            </a:r>
            <a:r>
              <a:rPr lang="en-US" dirty="0"/>
              <a:t>.</a:t>
            </a:r>
          </a:p>
          <a:p>
            <a:r>
              <a:rPr lang="en-US" b="1" dirty="0" smtClean="0"/>
              <a:t>🔸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26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8547418" cy="430887"/>
          </a:xfrm>
        </p:spPr>
        <p:txBody>
          <a:bodyPr/>
          <a:lstStyle/>
          <a:p>
            <a:r>
              <a:rPr lang="en-US" sz="2800" dirty="0"/>
              <a:t>Navbar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762000"/>
            <a:ext cx="8402320" cy="660180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Navbar</a:t>
            </a:r>
            <a:r>
              <a:rPr lang="en-US" dirty="0"/>
              <a:t> in Bootstrap is used to create a </a:t>
            </a:r>
            <a:r>
              <a:rPr lang="en-US" b="1" dirty="0"/>
              <a:t>responsive and easy-to-use navigation bar</a:t>
            </a:r>
            <a:r>
              <a:rPr lang="en-US" dirty="0"/>
              <a:t> for your website or web application. It helps users easily move from one page or section to another.</a:t>
            </a:r>
          </a:p>
          <a:p>
            <a:endParaRPr lang="en-IN" dirty="0" smtClean="0"/>
          </a:p>
          <a:p>
            <a:r>
              <a:rPr lang="en-US" b="1" dirty="0" smtClean="0"/>
              <a:t>Navigation </a:t>
            </a:r>
            <a:r>
              <a:rPr lang="en-US" b="1" dirty="0"/>
              <a:t>Structure</a:t>
            </a:r>
            <a:endParaRPr lang="en-US" dirty="0"/>
          </a:p>
          <a:p>
            <a:r>
              <a:rPr lang="en-US" dirty="0"/>
              <a:t>It provides a structured and consistent way to display links (Home, About, Contact, etc</a:t>
            </a:r>
            <a:r>
              <a:rPr lang="en-US" dirty="0" smtClean="0"/>
              <a:t>.).</a:t>
            </a:r>
          </a:p>
          <a:p>
            <a:endParaRPr lang="en-US" dirty="0"/>
          </a:p>
          <a:p>
            <a:r>
              <a:rPr lang="en-US" b="1" dirty="0"/>
              <a:t>Responsive Design</a:t>
            </a:r>
            <a:endParaRPr lang="en-US" dirty="0"/>
          </a:p>
          <a:p>
            <a:r>
              <a:rPr lang="en-US" dirty="0"/>
              <a:t>Bootstrap Navbar automatically adjusts for different screen sizes.</a:t>
            </a:r>
          </a:p>
          <a:p>
            <a:r>
              <a:rPr lang="en-US" dirty="0"/>
              <a:t>It collapses into a hamburger menu on smaller devices (mobile/tablet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b="1" dirty="0"/>
              <a:t>Customizable</a:t>
            </a:r>
            <a:endParaRPr lang="en-US" dirty="0"/>
          </a:p>
          <a:p>
            <a:r>
              <a:rPr lang="en-US" dirty="0"/>
              <a:t>You can easily add logos, search bars, dropdowns, buttons, and more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Built-in Styling</a:t>
            </a:r>
            <a:endParaRPr lang="en-US" dirty="0"/>
          </a:p>
          <a:p>
            <a:r>
              <a:rPr lang="en-US" dirty="0"/>
              <a:t>No need to write CSS from scratch—Bootstrap provides ready-to-use styles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Supports </a:t>
            </a:r>
            <a:r>
              <a:rPr lang="en-US" b="1" dirty="0"/>
              <a:t>JavaScript Features</a:t>
            </a:r>
            <a:endParaRPr lang="en-US" dirty="0"/>
          </a:p>
          <a:p>
            <a:r>
              <a:rPr lang="en-US" dirty="0"/>
              <a:t>Toggle, collapse, and dropdown features are supported without extra JS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90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547418" cy="430887"/>
          </a:xfrm>
        </p:spPr>
        <p:txBody>
          <a:bodyPr/>
          <a:lstStyle/>
          <a:p>
            <a:r>
              <a:rPr lang="en-IN" sz="2800" dirty="0" smtClean="0"/>
              <a:t>Input in form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8402320" cy="1800493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Bootstrap</a:t>
            </a:r>
            <a:r>
              <a:rPr lang="en-US" dirty="0"/>
              <a:t>, the </a:t>
            </a:r>
            <a:r>
              <a:rPr lang="en-US" b="1" dirty="0"/>
              <a:t>input</a:t>
            </a:r>
            <a:r>
              <a:rPr lang="en-US" dirty="0"/>
              <a:t> element is used to collect user input in a </a:t>
            </a:r>
            <a:r>
              <a:rPr lang="en-US" b="1" dirty="0"/>
              <a:t>form</a:t>
            </a:r>
            <a:r>
              <a:rPr lang="en-US" dirty="0"/>
              <a:t> (like name, email, password, etc.). Bootstrap enhances these inputs with built-in </a:t>
            </a:r>
            <a:r>
              <a:rPr lang="en-US" b="1" dirty="0"/>
              <a:t>styling</a:t>
            </a:r>
            <a:r>
              <a:rPr lang="en-US" dirty="0"/>
              <a:t>, </a:t>
            </a:r>
            <a:r>
              <a:rPr lang="en-US" b="1" dirty="0"/>
              <a:t>alignment</a:t>
            </a:r>
            <a:r>
              <a:rPr lang="en-US" dirty="0"/>
              <a:t>, and </a:t>
            </a:r>
            <a:r>
              <a:rPr lang="en-US" b="1" dirty="0"/>
              <a:t>responsive behavior</a:t>
            </a:r>
            <a:r>
              <a:rPr lang="en-US" dirty="0"/>
              <a:t>, making forms look clean and professional without writing custom CSS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437409"/>
              </p:ext>
            </p:extLst>
          </p:nvPr>
        </p:nvGraphicFramePr>
        <p:xfrm>
          <a:off x="685800" y="2286000"/>
          <a:ext cx="8382000" cy="5269037"/>
        </p:xfrm>
        <a:graphic>
          <a:graphicData uri="http://schemas.openxmlformats.org/drawingml/2006/table">
            <a:tbl>
              <a:tblPr/>
              <a:tblGrid>
                <a:gridCol w="2794000"/>
                <a:gridCol w="2794000"/>
                <a:gridCol w="2794000"/>
              </a:tblGrid>
              <a:tr h="337995">
                <a:tc>
                  <a:txBody>
                    <a:bodyPr/>
                    <a:lstStyle/>
                    <a:p>
                      <a:r>
                        <a:rPr lang="en-IN" sz="1800" b="1" dirty="0"/>
                        <a:t>Input Type</a:t>
                      </a:r>
                      <a:endParaRPr lang="en-IN" sz="1800" dirty="0"/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Purpose</a:t>
                      </a:r>
                      <a:endParaRPr lang="en-IN" sz="1800"/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Bootstrap Benefit</a:t>
                      </a:r>
                      <a:endParaRPr lang="en-IN" sz="1800"/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4711">
                <a:tc>
                  <a:txBody>
                    <a:bodyPr/>
                    <a:lstStyle/>
                    <a:p>
                      <a:r>
                        <a:rPr lang="en-IN" sz="1800" dirty="0"/>
                        <a:t>text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For entering text (like name, city)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Styled neatly with .form-control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4711">
                <a:tc>
                  <a:txBody>
                    <a:bodyPr/>
                    <a:lstStyle/>
                    <a:p>
                      <a:r>
                        <a:rPr lang="en-IN" sz="1800" dirty="0"/>
                        <a:t>email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For email addresses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Built-in validation and styling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4711">
                <a:tc>
                  <a:txBody>
                    <a:bodyPr/>
                    <a:lstStyle/>
                    <a:p>
                      <a:r>
                        <a:rPr lang="en-IN" sz="1800" dirty="0"/>
                        <a:t>password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For hidden password entry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Secure input with good UI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1427">
                <a:tc>
                  <a:txBody>
                    <a:bodyPr/>
                    <a:lstStyle/>
                    <a:p>
                      <a:r>
                        <a:rPr lang="en-IN" sz="1800" dirty="0"/>
                        <a:t>number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For numeric input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Allows increment/decrement buttons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4711">
                <a:tc>
                  <a:txBody>
                    <a:bodyPr/>
                    <a:lstStyle/>
                    <a:p>
                      <a:r>
                        <a:rPr lang="en-IN" sz="1800"/>
                        <a:t>date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For date selection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Calendar-style picker in modern browsers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4711">
                <a:tc>
                  <a:txBody>
                    <a:bodyPr/>
                    <a:lstStyle/>
                    <a:p>
                      <a:r>
                        <a:rPr lang="en-IN" sz="1800"/>
                        <a:t>radio / checkbox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For selection options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Customizable styles with .form-check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995">
                <a:tc>
                  <a:txBody>
                    <a:bodyPr/>
                    <a:lstStyle/>
                    <a:p>
                      <a:r>
                        <a:rPr lang="en-IN" sz="1800"/>
                        <a:t>file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For uploading files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Clean file input UI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4711">
                <a:tc>
                  <a:txBody>
                    <a:bodyPr/>
                    <a:lstStyle/>
                    <a:p>
                      <a:r>
                        <a:rPr lang="en-IN" sz="1800"/>
                        <a:t>submit / reset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For form control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Styled buttons for actions</a:t>
                      </a:r>
                    </a:p>
                  </a:txBody>
                  <a:tcPr marL="67498" marR="67498" marT="33749" marB="33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342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490" y="1581403"/>
            <a:ext cx="8547418" cy="553998"/>
          </a:xfrm>
        </p:spPr>
        <p:txBody>
          <a:bodyPr/>
          <a:lstStyle/>
          <a:p>
            <a:r>
              <a:rPr lang="en-IN" dirty="0"/>
              <a:t>Modal in Bootstrap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427" y="2363142"/>
            <a:ext cx="8402320" cy="4501232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Bootstrap</a:t>
            </a:r>
            <a:r>
              <a:rPr lang="en-US" dirty="0"/>
              <a:t>, a </a:t>
            </a:r>
            <a:r>
              <a:rPr lang="en-US" b="1" dirty="0"/>
              <a:t>modal</a:t>
            </a:r>
            <a:r>
              <a:rPr lang="en-US" dirty="0"/>
              <a:t> is a </a:t>
            </a:r>
            <a:r>
              <a:rPr lang="en-US" b="1" dirty="0"/>
              <a:t>popup dialog box</a:t>
            </a:r>
            <a:r>
              <a:rPr lang="en-US" dirty="0"/>
              <a:t> or </a:t>
            </a:r>
            <a:r>
              <a:rPr lang="en-US" b="1" dirty="0"/>
              <a:t>overlay window</a:t>
            </a:r>
            <a:r>
              <a:rPr lang="en-US" dirty="0"/>
              <a:t> that is displayed on top of the current page content. It is used to </a:t>
            </a:r>
            <a:r>
              <a:rPr lang="en-US" b="1" dirty="0"/>
              <a:t>focus user attention</a:t>
            </a:r>
            <a:r>
              <a:rPr lang="en-US" dirty="0"/>
              <a:t> on a specific task or message without navigating to another page</a:t>
            </a:r>
            <a:r>
              <a:rPr lang="en-US" dirty="0" smtClean="0"/>
              <a:t>.</a:t>
            </a:r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US" b="1" dirty="0"/>
              <a:t>To Display Important Information</a:t>
            </a:r>
          </a:p>
          <a:p>
            <a:r>
              <a:rPr lang="en-US" dirty="0"/>
              <a:t>Modals are used to show alerts, confirmations, or error messages without taking the user to a different page.</a:t>
            </a:r>
          </a:p>
          <a:p>
            <a:r>
              <a:rPr lang="en-US" b="1" dirty="0"/>
              <a:t>2. User Interaction Without Leaving the Page</a:t>
            </a:r>
          </a:p>
          <a:p>
            <a:r>
              <a:rPr lang="en-US" dirty="0"/>
              <a:t>Modals allow users to fill forms, login, or make choices within the same page context.</a:t>
            </a:r>
          </a:p>
          <a:p>
            <a:r>
              <a:rPr lang="en-US" dirty="0"/>
              <a:t>Example: Login form, feedback form, image preview.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2267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38200"/>
            <a:ext cx="8547418" cy="553998"/>
          </a:xfrm>
        </p:spPr>
        <p:txBody>
          <a:bodyPr/>
          <a:lstStyle/>
          <a:p>
            <a:r>
              <a:rPr lang="en-IN" dirty="0"/>
              <a:t>Images in Bootstrap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8402320" cy="503214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Bootstrap</a:t>
            </a:r>
            <a:r>
              <a:rPr lang="en-US" dirty="0"/>
              <a:t>, </a:t>
            </a:r>
            <a:r>
              <a:rPr lang="en-US" b="1" dirty="0"/>
              <a:t>images</a:t>
            </a:r>
            <a:r>
              <a:rPr lang="en-US" dirty="0"/>
              <a:t> are an important part of web design. Bootstrap provides several </a:t>
            </a:r>
            <a:r>
              <a:rPr lang="en-US" b="1" dirty="0"/>
              <a:t>classes</a:t>
            </a:r>
            <a:r>
              <a:rPr lang="en-US" dirty="0"/>
              <a:t> and </a:t>
            </a:r>
            <a:r>
              <a:rPr lang="en-US" b="1" dirty="0"/>
              <a:t>utilities</a:t>
            </a:r>
            <a:r>
              <a:rPr lang="en-US" dirty="0"/>
              <a:t> to make images </a:t>
            </a:r>
            <a:r>
              <a:rPr lang="en-US" b="1" dirty="0"/>
              <a:t>responsive</a:t>
            </a:r>
            <a:r>
              <a:rPr lang="en-US" dirty="0"/>
              <a:t>, </a:t>
            </a:r>
            <a:r>
              <a:rPr lang="en-US" b="1" dirty="0"/>
              <a:t>stylish</a:t>
            </a:r>
            <a:r>
              <a:rPr lang="en-US" dirty="0"/>
              <a:t>, and </a:t>
            </a:r>
            <a:r>
              <a:rPr lang="en-US" b="1" dirty="0"/>
              <a:t>aligned properly</a:t>
            </a:r>
            <a:r>
              <a:rPr lang="en-US" dirty="0"/>
              <a:t> across different devices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/>
              <a:t>1. Responsive Images</a:t>
            </a:r>
          </a:p>
          <a:p>
            <a:r>
              <a:rPr lang="en-US" dirty="0"/>
              <a:t>Using Bootstrap’s class </a:t>
            </a:r>
            <a:r>
              <a:rPr lang="en-US" dirty="0" err="1"/>
              <a:t>img</a:t>
            </a:r>
            <a:r>
              <a:rPr lang="en-US" dirty="0"/>
              <a:t>-fluid, images automatically </a:t>
            </a:r>
            <a:r>
              <a:rPr lang="en-US" b="1" dirty="0"/>
              <a:t>scale with the screen size</a:t>
            </a:r>
            <a:r>
              <a:rPr lang="en-US" dirty="0"/>
              <a:t>.</a:t>
            </a:r>
          </a:p>
          <a:p>
            <a:r>
              <a:rPr lang="en-US" dirty="0"/>
              <a:t>This makes the layout </a:t>
            </a:r>
            <a:r>
              <a:rPr lang="en-US" b="1" dirty="0"/>
              <a:t>mobile-friendly</a:t>
            </a:r>
            <a:r>
              <a:rPr lang="en-US" dirty="0"/>
              <a:t> and </a:t>
            </a:r>
            <a:r>
              <a:rPr lang="en-US" b="1" dirty="0"/>
              <a:t>adaptive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2. Easily Styled</a:t>
            </a:r>
          </a:p>
          <a:p>
            <a:r>
              <a:rPr lang="en-US" dirty="0"/>
              <a:t>Bootstrap allows applying </a:t>
            </a:r>
            <a:r>
              <a:rPr lang="en-US" b="1" dirty="0"/>
              <a:t>rounded corners</a:t>
            </a:r>
            <a:r>
              <a:rPr lang="en-US" dirty="0"/>
              <a:t>, </a:t>
            </a:r>
            <a:r>
              <a:rPr lang="en-US" b="1" dirty="0"/>
              <a:t>circular shapes</a:t>
            </a:r>
            <a:r>
              <a:rPr lang="en-US" dirty="0"/>
              <a:t>, </a:t>
            </a:r>
            <a:r>
              <a:rPr lang="en-US" b="1" dirty="0"/>
              <a:t>thumbnails</a:t>
            </a:r>
            <a:r>
              <a:rPr lang="en-US" dirty="0"/>
              <a:t>, etc., using simple classes like:</a:t>
            </a:r>
          </a:p>
          <a:p>
            <a:pPr lvl="1"/>
            <a:r>
              <a:rPr lang="en-US" dirty="0"/>
              <a:t>rounded – rounded corners</a:t>
            </a:r>
          </a:p>
          <a:p>
            <a:pPr lvl="1"/>
            <a:r>
              <a:rPr lang="en-US" dirty="0"/>
              <a:t>rounded-circle – circular image</a:t>
            </a:r>
          </a:p>
          <a:p>
            <a:pPr lvl="1"/>
            <a:r>
              <a:rPr lang="en-US" dirty="0" err="1"/>
              <a:t>img</a:t>
            </a:r>
            <a:r>
              <a:rPr lang="en-US" dirty="0"/>
              <a:t>-thumbnail – image with border and padding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883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490" y="1581403"/>
            <a:ext cx="8547418" cy="492443"/>
          </a:xfrm>
        </p:spPr>
        <p:txBody>
          <a:bodyPr/>
          <a:lstStyle/>
          <a:p>
            <a:r>
              <a:rPr lang="en-IN" sz="3200" dirty="0"/>
              <a:t>Scrollspy in Bootstrap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427" y="2363142"/>
            <a:ext cx="8402320" cy="3901068"/>
          </a:xfrm>
        </p:spPr>
        <p:txBody>
          <a:bodyPr/>
          <a:lstStyle/>
          <a:p>
            <a:r>
              <a:rPr lang="en-US" b="1" dirty="0"/>
              <a:t>Bootstrap Scrollspy</a:t>
            </a:r>
            <a:r>
              <a:rPr lang="en-US" dirty="0"/>
              <a:t> is a feature that </a:t>
            </a:r>
            <a:r>
              <a:rPr lang="en-US" b="1" dirty="0"/>
              <a:t>automatically updates navigation links</a:t>
            </a:r>
            <a:r>
              <a:rPr lang="en-US" dirty="0"/>
              <a:t> based on which section is currently visible on the page as the user scrolls. It is mainly used in </a:t>
            </a:r>
            <a:r>
              <a:rPr lang="en-US" b="1" dirty="0"/>
              <a:t>single-page websites</a:t>
            </a:r>
            <a:r>
              <a:rPr lang="en-US" dirty="0"/>
              <a:t> or </a:t>
            </a:r>
            <a:r>
              <a:rPr lang="en-US" b="1" dirty="0"/>
              <a:t>landing pages</a:t>
            </a:r>
            <a:r>
              <a:rPr lang="en-US" dirty="0"/>
              <a:t>.</a:t>
            </a:r>
          </a:p>
          <a:p>
            <a:endParaRPr lang="en-IN" dirty="0" smtClean="0"/>
          </a:p>
          <a:p>
            <a:endParaRPr lang="en-IN" dirty="0" smtClean="0"/>
          </a:p>
          <a:p>
            <a:r>
              <a:rPr lang="en-US" b="1" dirty="0"/>
              <a:t>Dynamic Navigation Highlighting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Scrollspy automatically adds an active class to the navigation link that matches the currently visible section, giving the user a visual cue about where they are on the page.</a:t>
            </a:r>
          </a:p>
          <a:p>
            <a:r>
              <a:rPr lang="en-US" b="1" dirty="0"/>
              <a:t>Improves User Experience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It helps users easily understand their current position on the page and navigate to other sections without getting lost.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580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55"/>
            <a:ext cx="10058400" cy="5659120"/>
            <a:chOff x="0" y="1057655"/>
            <a:chExt cx="10058400" cy="5659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57655"/>
              <a:ext cx="10058400" cy="5658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4966" y="3025901"/>
              <a:ext cx="5509260" cy="7025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4733" y="3984498"/>
              <a:ext cx="4605528" cy="8001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3637</TotalTime>
  <Words>1899</Words>
  <Application>Microsoft Office PowerPoint</Application>
  <PresentationFormat>Custom</PresentationFormat>
  <Paragraphs>323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                                Explained by: Rupali Gaikwad          </vt:lpstr>
      <vt:lpstr>PowerPoint Presentation</vt:lpstr>
      <vt:lpstr>PowerPoint Presentation</vt:lpstr>
      <vt:lpstr> </vt:lpstr>
      <vt:lpstr>PowerPoint Presentation</vt:lpstr>
      <vt:lpstr>Images in Bootstrap</vt:lpstr>
      <vt:lpstr>Jumbotron</vt:lpstr>
      <vt:lpstr>wells</vt:lpstr>
      <vt:lpstr>Alerts</vt:lpstr>
      <vt:lpstr>Buttons</vt:lpstr>
      <vt:lpstr>Glyphicons</vt:lpstr>
      <vt:lpstr>progress bar</vt:lpstr>
      <vt:lpstr>Pagination</vt:lpstr>
      <vt:lpstr>pager</vt:lpstr>
      <vt:lpstr>dropdown</vt:lpstr>
      <vt:lpstr>Collapse</vt:lpstr>
      <vt:lpstr>Navbar</vt:lpstr>
      <vt:lpstr>Input in form</vt:lpstr>
      <vt:lpstr>Modal in Bootstrap</vt:lpstr>
      <vt:lpstr>Images in Bootstrap</vt:lpstr>
      <vt:lpstr>Scrollspy in Bootstrap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Css (1)</dc:title>
  <dc:creator>ARSHIYA IRAM AQUEEL AHMED</dc:creator>
  <cp:lastModifiedBy>SAGAR</cp:lastModifiedBy>
  <cp:revision>113</cp:revision>
  <dcterms:created xsi:type="dcterms:W3CDTF">2025-01-01T06:15:41Z</dcterms:created>
  <dcterms:modified xsi:type="dcterms:W3CDTF">2026-01-30T09:32:07Z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2024-03-06T00:00:00Z</vt:filetime>
  </property>
  <property fmtid="{D5CDD505-2E9C-101B-9397-08002B2CF9AE}" pid="3" name="LastSaved">
    <vt:filetime>2025-01-01T00:00:00Z</vt:filetime>
  </property>
  <property fmtid="{D5CDD505-2E9C-101B-9397-08002B2CF9AE}" pid="4" name="Producer">
    <vt:lpwstr>Microsoft: Print To PDF</vt:lpwstr>
  </property>
</Properties>
</file>